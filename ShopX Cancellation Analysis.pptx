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9118" autoAdjust="0"/>
  </p:normalViewPr>
  <p:slideViewPr>
    <p:cSldViewPr snapToGrid="0" snapToObjects="1">
      <p:cViewPr varScale="1">
        <p:scale>
          <a:sx n="125" d="100"/>
          <a:sy n="125" d="100"/>
        </p:scale>
        <p:origin x="507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803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cancellation rate: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17.47% for Merchant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12.79% for Amazon fulfillment</a:t>
            </a:r>
          </a:p>
          <a:p>
            <a:pPr marL="342900" indent="-342900">
              <a:lnSpc>
                <a:spcPts val="2430"/>
              </a:lnSpc>
              <a:buSzPct val="100000"/>
              <a:buFontTx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categories: Sets, Kurtas, and Western Dresses have highest cancellation rates (14-15%)</a:t>
            </a:r>
            <a:endParaRPr lang="en-US" sz="12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hotspots: Rajasthan (33.33%) and Lakshadweep (25.00%) have critical issues</a:t>
            </a:r>
            <a:endParaRPr lang="en-US" sz="12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of cancelled orders: Slow merchant fulfillment creates customer abandonment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7251" y="1815852"/>
            <a:ext cx="6409498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EE4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ShopX Cancellation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83364" y="2516609"/>
            <a:ext cx="3577050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Causes &amp; Recommendations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22079" y="3141241"/>
            <a:ext cx="2299841" cy="186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&amp; Insights • March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9155" y="2072630"/>
            <a:ext cx="2385689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E4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451" y="2556570"/>
            <a:ext cx="7925098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reduce overall cancellation rate from </a:t>
            </a: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14-17%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10-12%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saving thousands of orders and improving customer satisfaction scores.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451" y="609451"/>
            <a:ext cx="80836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E4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41065" y="1522573"/>
            <a:ext cx="7620372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A9BFFF-C361-E597-1A1B-D7F2D7763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659" y="1287342"/>
            <a:ext cx="6596682" cy="36244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51" y="1249487"/>
            <a:ext cx="7925098" cy="3284562"/>
          </a:xfrm>
          <a:prstGeom prst="rect">
            <a:avLst/>
          </a:prstGeom>
          <a:solidFill>
            <a:srgbClr val="1A407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609451"/>
            <a:ext cx="80836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E4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1: Fulfillment Gap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177" y="1554212"/>
            <a:ext cx="7461959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EE4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Fulfillment is 36% More Likely to Be Cancelled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177" y="2026593"/>
            <a:ext cx="7315646" cy="913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Merchant-fulfilled orders experience a </a:t>
            </a: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17.47% cancellation rate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compared to Amazon's </a:t>
            </a: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12.79%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This 4.68 percentage point gap represents </a:t>
            </a:r>
            <a:r>
              <a:rPr lang="en-US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lost orders and dissatisfied customers.</a:t>
            </a:r>
            <a:endParaRPr lang="en-US" sz="15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51" y="609451"/>
            <a:ext cx="80836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E4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2: Geographic Concentration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177" y="1473343"/>
            <a:ext cx="7620372" cy="703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Rajasthan: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33.33% cancellation rate (highest in platform)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Lakshadweep: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25.00% cancellation rate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451" y="2632249"/>
            <a:ext cx="792509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regions likely suffer from poor last-mile logistics infrastructure or extended delivery times causing customer impatience, ultimately leading to order cancellation.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51" y="609451"/>
            <a:ext cx="80836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E4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3: Product Category Risk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177" y="1249487"/>
            <a:ext cx="7620372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Sets: 14.59% cancellation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Kurtas: 14.55% cancellation 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Dresses: 13.69% cancellation rate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451" y="2632249"/>
            <a:ext cx="792509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Ethnic and apparel items have inherently higher friction due to sizing concerns and fabric expectations in online shopping.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51" y="609451"/>
            <a:ext cx="80836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E4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Merchant Fulfillment Speed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451" y="1249487"/>
            <a:ext cx="792509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reveals that slow processing and shipping times by third-party merchants are the primary driver of cancellations.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177" y="2077347"/>
            <a:ext cx="7620372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in high-cancellation states expect 1-2 day delivery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Merchants takes more days to process orders, losing customer patience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51" y="1660922"/>
            <a:ext cx="7925098" cy="2873127"/>
          </a:xfrm>
          <a:prstGeom prst="rect">
            <a:avLst/>
          </a:prstGeom>
          <a:solidFill>
            <a:srgbClr val="1A407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609451"/>
            <a:ext cx="792509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E4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1: Fulfillment Performance Gates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177" y="1965647"/>
            <a:ext cx="7461959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EE4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Minimum Fulfillment Speed Requirements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177" y="2438028"/>
            <a:ext cx="731564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merchants to ship within </a:t>
            </a: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hours or face promotional restrictions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Track "time to dispatch" as a KPI and penalize slow merchants by reducing their visibility in search rankings.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51" y="1249487"/>
            <a:ext cx="7925098" cy="3284562"/>
          </a:xfrm>
          <a:prstGeom prst="rect">
            <a:avLst/>
          </a:prstGeom>
          <a:solidFill>
            <a:srgbClr val="1A407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609451"/>
            <a:ext cx="80836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E4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2: Migrate Top SKUs to FBA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177" y="1554212"/>
            <a:ext cx="7461959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EE4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High-Volume Products to Amazon Fulfillment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177" y="2026593"/>
            <a:ext cx="7315646" cy="759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top 20% of Set, Kurta and Western Dress SKUs by sales volume and encourage or mandate those merchants to use Amazon FBA. This will instantly reduce cancellation rates in those categories.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51" y="1660922"/>
            <a:ext cx="7925098" cy="2873127"/>
          </a:xfrm>
          <a:prstGeom prst="rect">
            <a:avLst/>
          </a:prstGeom>
          <a:solidFill>
            <a:srgbClr val="1A407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451" y="609451"/>
            <a:ext cx="792509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E4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3: Regional Logistics Partnerships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177" y="1965647"/>
            <a:ext cx="7461959" cy="320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EE4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Rajasthan and Lakshadweep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177" y="2438028"/>
            <a:ext cx="731564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partnerships with regional courier services or open micro-fulfillment centers in these high-cancellation states to reduce delivery times and improve customer satisfaction.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4189" y="2118345"/>
            <a:ext cx="175562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E4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080608" y="2758380"/>
            <a:ext cx="982784" cy="266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418</Words>
  <Application>Microsoft Office PowerPoint</Application>
  <PresentationFormat>On-screen Show (16:9)</PresentationFormat>
  <Paragraphs>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Hsiao Jiet</cp:lastModifiedBy>
  <cp:revision>3</cp:revision>
  <dcterms:created xsi:type="dcterms:W3CDTF">2026-03-01T06:30:15Z</dcterms:created>
  <dcterms:modified xsi:type="dcterms:W3CDTF">2026-03-01T14:36:33Z</dcterms:modified>
</cp:coreProperties>
</file>